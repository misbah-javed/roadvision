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766560" y="365760"/>
            <a:ext cx="0" cy="5577840"/>
          </a:xfrm>
          <a:prstGeom prst="line">
            <a:avLst/>
          </a:prstGeom>
          <a:ln w="8890">
            <a:solidFill>
              <a:srgbClr val="1E3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360920" y="365760"/>
            <a:ext cx="0" cy="5577840"/>
          </a:xfrm>
          <a:prstGeom prst="line">
            <a:avLst/>
          </a:prstGeom>
          <a:ln w="8890">
            <a:solidFill>
              <a:srgbClr val="1E3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955280" y="365760"/>
            <a:ext cx="0" cy="5577840"/>
          </a:xfrm>
          <a:prstGeom prst="line">
            <a:avLst/>
          </a:prstGeom>
          <a:ln w="8890">
            <a:solidFill>
              <a:srgbClr val="1E3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49640" y="365760"/>
            <a:ext cx="0" cy="5577840"/>
          </a:xfrm>
          <a:prstGeom prst="line">
            <a:avLst/>
          </a:prstGeom>
          <a:ln w="8890">
            <a:solidFill>
              <a:srgbClr val="1E3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0" y="365760"/>
            <a:ext cx="0" cy="5577840"/>
          </a:xfrm>
          <a:prstGeom prst="line">
            <a:avLst/>
          </a:prstGeom>
          <a:ln w="8890">
            <a:solidFill>
              <a:srgbClr val="1E3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738360" y="365760"/>
            <a:ext cx="0" cy="5577840"/>
          </a:xfrm>
          <a:prstGeom prst="line">
            <a:avLst/>
          </a:prstGeom>
          <a:ln w="8890">
            <a:solidFill>
              <a:srgbClr val="1E3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332720" y="365760"/>
            <a:ext cx="0" cy="5577840"/>
          </a:xfrm>
          <a:prstGeom prst="line">
            <a:avLst/>
          </a:prstGeom>
          <a:ln w="8890">
            <a:solidFill>
              <a:srgbClr val="1E3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27080" y="365760"/>
            <a:ext cx="0" cy="5577840"/>
          </a:xfrm>
          <a:prstGeom prst="line">
            <a:avLst/>
          </a:prstGeom>
          <a:ln w="8890">
            <a:solidFill>
              <a:srgbClr val="1E3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0" y="548640"/>
            <a:ext cx="5029200" cy="0"/>
          </a:xfrm>
          <a:prstGeom prst="line">
            <a:avLst/>
          </a:prstGeom>
          <a:ln w="8890">
            <a:solidFill>
              <a:srgbClr val="1E3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1207007"/>
            <a:ext cx="5029200" cy="0"/>
          </a:xfrm>
          <a:prstGeom prst="line">
            <a:avLst/>
          </a:prstGeom>
          <a:ln w="8890">
            <a:solidFill>
              <a:srgbClr val="1E3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83680" y="1865376"/>
            <a:ext cx="5029200" cy="0"/>
          </a:xfrm>
          <a:prstGeom prst="line">
            <a:avLst/>
          </a:prstGeom>
          <a:ln w="8890">
            <a:solidFill>
              <a:srgbClr val="1E3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2523744"/>
            <a:ext cx="5029200" cy="0"/>
          </a:xfrm>
          <a:prstGeom prst="line">
            <a:avLst/>
          </a:prstGeom>
          <a:ln w="8890">
            <a:solidFill>
              <a:srgbClr val="1E3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3182112"/>
            <a:ext cx="5029200" cy="0"/>
          </a:xfrm>
          <a:prstGeom prst="line">
            <a:avLst/>
          </a:prstGeom>
          <a:ln w="8890">
            <a:solidFill>
              <a:srgbClr val="1E3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83680" y="3840479"/>
            <a:ext cx="5029200" cy="0"/>
          </a:xfrm>
          <a:prstGeom prst="line">
            <a:avLst/>
          </a:prstGeom>
          <a:ln w="8890">
            <a:solidFill>
              <a:srgbClr val="1E3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83680" y="4498848"/>
            <a:ext cx="5029200" cy="0"/>
          </a:xfrm>
          <a:prstGeom prst="line">
            <a:avLst/>
          </a:prstGeom>
          <a:ln w="8890">
            <a:solidFill>
              <a:srgbClr val="1E3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5157216"/>
            <a:ext cx="5029200" cy="0"/>
          </a:xfrm>
          <a:prstGeom prst="line">
            <a:avLst/>
          </a:prstGeom>
          <a:ln w="8890">
            <a:solidFill>
              <a:srgbClr val="1E3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 rot="1320000">
            <a:off x="7406640" y="914400"/>
            <a:ext cx="3566160" cy="73152"/>
          </a:xfrm>
          <a:prstGeom prst="rect">
            <a:avLst/>
          </a:prstGeom>
          <a:solidFill>
            <a:srgbClr val="00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0580000">
            <a:off x="7680960" y="1828800"/>
            <a:ext cx="3383280" cy="73152"/>
          </a:xfrm>
          <a:prstGeom prst="rect">
            <a:avLst/>
          </a:prstGeom>
          <a:solidFill>
            <a:srgbClr val="00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480000">
            <a:off x="7315200" y="2926080"/>
            <a:ext cx="3840480" cy="73152"/>
          </a:xfrm>
          <a:prstGeom prst="rect">
            <a:avLst/>
          </a:prstGeom>
          <a:solidFill>
            <a:srgbClr val="00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19680000">
            <a:off x="8046720" y="3749039"/>
            <a:ext cx="2926080" cy="73152"/>
          </a:xfrm>
          <a:prstGeom prst="rect">
            <a:avLst/>
          </a:prstGeom>
          <a:solidFill>
            <a:srgbClr val="00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731520"/>
            <a:ext cx="73152" cy="4480560"/>
          </a:xfrm>
          <a:prstGeom prst="rect">
            <a:avLst/>
          </a:prstGeom>
          <a:solidFill>
            <a:srgbClr val="00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18320" y="1005840"/>
            <a:ext cx="73152" cy="4389120"/>
          </a:xfrm>
          <a:prstGeom prst="rect">
            <a:avLst/>
          </a:prstGeom>
          <a:solidFill>
            <a:srgbClr val="00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07040" y="1280160"/>
            <a:ext cx="73152" cy="3749039"/>
          </a:xfrm>
          <a:prstGeom prst="rect">
            <a:avLst/>
          </a:prstGeom>
          <a:solidFill>
            <a:srgbClr val="00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58368"/>
            <a:ext cx="530352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C6B4"/>
                </a:solidFill>
                <a:latin typeface="Aptos"/>
              </a:defRPr>
            </a:pPr>
            <a:r>
              <a:t>GEOSPATIAL AI • PROJECT CONCEPT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1417320"/>
            <a:ext cx="5943600" cy="10972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4200" b="1">
                <a:solidFill>
                  <a:srgbClr val="F5F8FC"/>
                </a:solidFill>
                <a:latin typeface="Aptos"/>
              </a:defRPr>
            </a:pPr>
            <a:r>
              <a:t>ROADVISION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2651760"/>
            <a:ext cx="5577840" cy="10972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2300" b="0">
                <a:solidFill>
                  <a:srgbClr val="F5F8FC"/>
                </a:solidFill>
                <a:latin typeface="Aptos"/>
              </a:defRPr>
            </a:pPr>
            <a:r>
              <a:t>AI-assisted road mapping &amp;</a:t>
            </a:r>
          </a:p>
          <a:p>
            <a:pPr>
              <a:spcAft>
                <a:spcPts val="600"/>
              </a:spcAft>
              <a:defRPr sz="2300" b="0">
                <a:solidFill>
                  <a:srgbClr val="F5F8FC"/>
                </a:solidFill>
                <a:latin typeface="Aptos"/>
              </a:defRPr>
            </a:pPr>
            <a:r>
              <a:t>remote-area connectivity planning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160520"/>
            <a:ext cx="5303520" cy="7315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AEBECF"/>
                </a:solidFill>
                <a:latin typeface="Aptos"/>
              </a:defRPr>
            </a:pPr>
            <a:r>
              <a:t>Python + Computer Vision / ML + TinyFish web research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5806440"/>
            <a:ext cx="530352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AA5A"/>
                </a:solidFill>
                <a:latin typeface="Aptos"/>
              </a:defRPr>
            </a:pPr>
            <a:r>
              <a:t>Decision support — not an automatic construction authority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AEBECF"/>
                </a:solidFill>
                <a:latin typeface="Aptos"/>
              </a:defRPr>
            </a:pPr>
            <a:r>
              <a:t>ROADVISION  •  AI-ASSISTED ROAD ACCESS PLANNING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C6B4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6B4"/>
                </a:solidFill>
                <a:latin typeface="Aptos"/>
              </a:defRPr>
            </a:pPr>
            <a:r>
              <a:t>01 /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Roads are the last-mile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97280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CF"/>
                </a:solidFill>
                <a:latin typeface="Aptos"/>
              </a:defRPr>
            </a:pPr>
            <a:r>
              <a:t>Remote communities can be hard to reach when roads are missing, disconnected, or difficult to assess.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3474720" cy="246888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304288"/>
            <a:ext cx="54864" cy="2157984"/>
          </a:xfrm>
          <a:prstGeom prst="rect">
            <a:avLst/>
          </a:prstGeom>
          <a:solidFill>
            <a:srgbClr val="00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313432"/>
            <a:ext cx="310896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C6B4"/>
                </a:solidFill>
                <a:latin typeface="Aptos"/>
              </a:defRPr>
            </a:pPr>
            <a:r>
              <a:t>ACCESS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770632"/>
            <a:ext cx="3090672" cy="17556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Some settlements have no mapped road connection to schools, clinics, markets, or emergency services.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48840"/>
            <a:ext cx="3474720" cy="246888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2304288"/>
            <a:ext cx="54864" cy="2157984"/>
          </a:xfrm>
          <a:prstGeom prst="rect">
            <a:avLst/>
          </a:prstGeom>
          <a:solidFill>
            <a:srgbClr val="C2F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13432"/>
            <a:ext cx="310896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C2F271"/>
                </a:solidFill>
                <a:latin typeface="Aptos"/>
              </a:defRPr>
            </a:pPr>
            <a:r>
              <a:t>FRAGMENTED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70632"/>
            <a:ext cx="3090672" cy="17556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Satellite images, road maps, terrain data and local reports often live in separate sources.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48840"/>
            <a:ext cx="3474720" cy="246888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304288"/>
            <a:ext cx="54864" cy="2157984"/>
          </a:xfrm>
          <a:prstGeom prst="rect">
            <a:avLst/>
          </a:prstGeom>
          <a:solidFill>
            <a:srgbClr val="FF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313432"/>
            <a:ext cx="310896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AA5A"/>
                </a:solidFill>
                <a:latin typeface="Aptos"/>
              </a:defRPr>
            </a:pPr>
            <a:r>
              <a:t>SLOW PRIORITISATION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770632"/>
            <a:ext cx="3090672" cy="17556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Planners need a repeatable way to flag likely gaps and compare candidate corridors before field surveys.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66360"/>
            <a:ext cx="10789920" cy="5943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5F8FC"/>
                </a:solidFill>
                <a:latin typeface="Aptos"/>
              </a:defRPr>
            </a:pPr>
            <a:r>
              <a:t>Opportunity: turn geospatial evidence into a transparent shortlist for human review.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AEBECF"/>
                </a:solidFill>
                <a:latin typeface="Aptos"/>
              </a:defRPr>
            </a:pPr>
            <a:r>
              <a:t>ROADVISION  •  AI-ASSISTED ROAD ACCESS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C6B4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6B4"/>
                </a:solidFill>
                <a:latin typeface="Aptos"/>
              </a:defRPr>
            </a:pPr>
            <a:r>
              <a:t>02 /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What are we solving?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97280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CF"/>
                </a:solidFill>
                <a:latin typeface="Aptos"/>
              </a:defRPr>
            </a:pPr>
            <a:r>
              <a:t>Detect road networks, identify potential access gaps, and rank areas for further investigation.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15600" cy="1417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F5F8FC"/>
                </a:solidFill>
                <a:latin typeface="Aptos"/>
              </a:defRPr>
            </a:pPr>
            <a:r>
              <a:t>Given satellite imagery and open geospatial data for a selected region, how can a Python-based AI pipeline extract road networks, compare them with existing road maps, flag suspicious gaps or low-confidence segments, and suggest candidate connections for remote communities?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069080"/>
            <a:ext cx="3291840" cy="141732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224528"/>
            <a:ext cx="54864" cy="1106424"/>
          </a:xfrm>
          <a:prstGeom prst="rect">
            <a:avLst/>
          </a:prstGeom>
          <a:solidFill>
            <a:srgbClr val="00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33672"/>
            <a:ext cx="292608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C6B4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690872"/>
            <a:ext cx="2907792" cy="70408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Satellite tiles • road vectors • terrain • settlement / service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4069080"/>
            <a:ext cx="3291840" cy="141732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4224528"/>
            <a:ext cx="54864" cy="1106424"/>
          </a:xfrm>
          <a:prstGeom prst="rect">
            <a:avLst/>
          </a:prstGeom>
          <a:solidFill>
            <a:srgbClr val="C2F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4233672"/>
            <a:ext cx="292608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C2F27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4690872"/>
            <a:ext cx="2907792" cy="70408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Road masks / centerlines • gap flags • candidate corridors • confidence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69080"/>
            <a:ext cx="3291840" cy="141732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4224528"/>
            <a:ext cx="54864" cy="1106424"/>
          </a:xfrm>
          <a:prstGeom prst="rect">
            <a:avLst/>
          </a:prstGeom>
          <a:solidFill>
            <a:srgbClr val="FF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4233672"/>
            <a:ext cx="292608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AA5A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4690872"/>
            <a:ext cx="2907792" cy="70408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Planning aid only; not a legal road-design or pavement-condition verdict.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AEBECF"/>
                </a:solidFill>
                <a:latin typeface="Aptos"/>
              </a:defRPr>
            </a:pPr>
            <a:r>
              <a:t>ROADVISION  •  AI-ASSISTED ROAD ACCESS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C6B4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6B4"/>
                </a:solidFill>
                <a:latin typeface="Aptos"/>
              </a:defRPr>
            </a:pPr>
            <a:r>
              <a:t>03 /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Data we can realistically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97280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CF"/>
                </a:solidFill>
                <a:latin typeface="Aptos"/>
              </a:defRPr>
            </a:pPr>
            <a:r>
              <a:t>Start with public datasets; add higher-resolution imagery and local validation where available.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303520" cy="141732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21408"/>
            <a:ext cx="54864" cy="1106424"/>
          </a:xfrm>
          <a:prstGeom prst="rect">
            <a:avLst/>
          </a:prstGeom>
          <a:solidFill>
            <a:srgbClr val="00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130552"/>
            <a:ext cx="4937759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C6B4"/>
                </a:solidFill>
                <a:latin typeface="Aptos"/>
              </a:defRPr>
            </a:pPr>
            <a:r>
              <a:t>SpaceNet 3 — road labels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87752"/>
            <a:ext cx="4919472" cy="70408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Satellite imagery paired with road-centerline labels; useful for training / benchmarking.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303520" cy="141732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121408"/>
            <a:ext cx="54864" cy="1106424"/>
          </a:xfrm>
          <a:prstGeom prst="rect">
            <a:avLst/>
          </a:prstGeom>
          <a:solidFill>
            <a:srgbClr val="C2F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130552"/>
            <a:ext cx="4937759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C2F271"/>
                </a:solidFill>
                <a:latin typeface="Aptos"/>
              </a:defRPr>
            </a:pPr>
            <a:r>
              <a:t>OpenStreetMap (OSM)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87752"/>
            <a:ext cx="4919472" cy="70408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Existing road geometry and tags to compare against AI detections; coverage varies by region.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5303520" cy="141732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813048"/>
            <a:ext cx="54864" cy="1106424"/>
          </a:xfrm>
          <a:prstGeom prst="rect">
            <a:avLst/>
          </a:prstGeom>
          <a:solidFill>
            <a:srgbClr val="FF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822191"/>
            <a:ext cx="4937759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AA5A"/>
                </a:solidFill>
                <a:latin typeface="Aptos"/>
              </a:defRPr>
            </a:pPr>
            <a:r>
              <a:t>Copernicus Sentinel-2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279392"/>
            <a:ext cx="4919472" cy="70408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Open imagery with 10 m bands for broad land context; often too coarse for narrow roads.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57600"/>
            <a:ext cx="5303520" cy="141732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813048"/>
            <a:ext cx="54864" cy="1106424"/>
          </a:xfrm>
          <a:prstGeom prst="rect">
            <a:avLst/>
          </a:prstGeom>
          <a:solidFill>
            <a:srgbClr val="00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822191"/>
            <a:ext cx="4937759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C6B4"/>
                </a:solidFill>
                <a:latin typeface="Aptos"/>
              </a:defRPr>
            </a:pPr>
            <a:r>
              <a:t>Local / official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279392"/>
            <a:ext cx="4919472" cy="70408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Settlement locations, schools, clinics, road authority records, elevation / slope, flood zones.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1069848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AA5A"/>
                </a:solidFill>
                <a:latin typeface="Aptos"/>
              </a:defRPr>
            </a:pPr>
            <a:r>
              <a:t>Satellite imagery alone cannot reliably diagnose potholes, pavement strength or drainage performance.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AEBECF"/>
                </a:solidFill>
                <a:latin typeface="Aptos"/>
              </a:defRPr>
            </a:pPr>
            <a:r>
              <a:t>ROADVISION  •  AI-ASSISTED ROAD ACCESS 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C6B4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6B4"/>
                </a:solidFill>
                <a:latin typeface="Aptos"/>
              </a:defRPr>
            </a:pPr>
            <a:r>
              <a:t>04 /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What each technology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97280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CF"/>
                </a:solidFill>
                <a:latin typeface="Aptos"/>
              </a:defRPr>
            </a:pPr>
            <a:r>
              <a:t>TinyFish gathers supporting web evidence; computer vision interprets the image pixels.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2743200" cy="228600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67128"/>
            <a:ext cx="54864" cy="1975104"/>
          </a:xfrm>
          <a:prstGeom prst="rect">
            <a:avLst/>
          </a:prstGeom>
          <a:solidFill>
            <a:srgbClr val="00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176272"/>
            <a:ext cx="237744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C6B4"/>
                </a:solidFill>
                <a:latin typeface="Aptos"/>
              </a:defRPr>
            </a:pPr>
            <a:r>
              <a:t>PYTHON + GEO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33472"/>
            <a:ext cx="2359152" cy="15727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Rasterio • GeoPandas • Shapely • GDAL</a:t>
            </a:r>
          </a:p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Tile, align, clip and analyse layers.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011680"/>
            <a:ext cx="2743200" cy="228600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2167128"/>
            <a:ext cx="54864" cy="1975104"/>
          </a:xfrm>
          <a:prstGeom prst="rect">
            <a:avLst/>
          </a:prstGeom>
          <a:solidFill>
            <a:srgbClr val="C2F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2176272"/>
            <a:ext cx="237744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C2F271"/>
                </a:solidFill>
                <a:latin typeface="Aptos"/>
              </a:defRPr>
            </a:pPr>
            <a:r>
              <a:t>AI / 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2633472"/>
            <a:ext cx="2359152" cy="15727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U-Net / DeepLab segmentation or pretrained road extractor</a:t>
            </a:r>
          </a:p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Detect road pixels, then centerlines.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011680"/>
            <a:ext cx="2240280" cy="228600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2167128"/>
            <a:ext cx="54864" cy="1975104"/>
          </a:xfrm>
          <a:prstGeom prst="rect">
            <a:avLst/>
          </a:prstGeom>
          <a:solidFill>
            <a:srgbClr val="FF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2176272"/>
            <a:ext cx="187452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AA5A"/>
                </a:solidFill>
                <a:latin typeface="Aptos"/>
              </a:defRPr>
            </a:pPr>
            <a:r>
              <a:t>NETWORK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2633472"/>
            <a:ext cx="1856232" cy="15727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NetworkX / OSMnx</a:t>
            </a:r>
          </a:p>
          <a:p>
            <a:pPr>
              <a:spcAft>
                <a:spcPts val="600"/>
              </a:spcAft>
              <a:defRPr sz="1300" b="0">
                <a:solidFill>
                  <a:srgbClr val="F5F8FC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Analyse connectivity, isolated areas and route gaps.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011680"/>
            <a:ext cx="2514600" cy="228600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2167128"/>
            <a:ext cx="54864" cy="1975104"/>
          </a:xfrm>
          <a:prstGeom prst="rect">
            <a:avLst/>
          </a:prstGeom>
          <a:solidFill>
            <a:srgbClr val="00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2288" y="2176272"/>
            <a:ext cx="214884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C6B4"/>
                </a:solidFill>
                <a:latin typeface="Aptos"/>
              </a:defRPr>
            </a:pPr>
            <a:r>
              <a:t>TINYFISH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2633472"/>
            <a:ext cx="2130552" cy="15727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Search / fetch / agent</a:t>
            </a:r>
          </a:p>
          <a:p>
            <a:pPr>
              <a:spcAft>
                <a:spcPts val="600"/>
              </a:spcAft>
              <a:defRPr sz="1300" b="0">
                <a:solidFill>
                  <a:srgbClr val="F5F8FC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Collect public reports, criteria and source URLs into structured records.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10607040" cy="7772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Optional interface: Streamlit map dashboard • GeoJSON export • priority list with evidence and confidence.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AEBECF"/>
                </a:solidFill>
                <a:latin typeface="Aptos"/>
              </a:defRPr>
            </a:pPr>
            <a:r>
              <a:t>ROADVISION  •  AI-ASSISTED ROAD ACCESS 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C6B4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6B4"/>
                </a:solidFill>
                <a:latin typeface="Aptos"/>
              </a:defRPr>
            </a:pPr>
            <a:r>
              <a:t>05 /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From satellite tile to planning shortlist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97280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CF"/>
                </a:solidFill>
                <a:latin typeface="Aptos"/>
              </a:defRPr>
            </a:pPr>
            <a:r>
              <a:t>A staged pipeline keeps results auditable and each component testable.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606040" cy="1298448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54864" cy="987551"/>
          </a:xfrm>
          <a:prstGeom prst="rect">
            <a:avLst/>
          </a:prstGeom>
          <a:solidFill>
            <a:srgbClr val="00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84832"/>
            <a:ext cx="224028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C6B4"/>
                </a:solidFill>
                <a:latin typeface="Aptos"/>
              </a:defRPr>
            </a:pPr>
            <a:r>
              <a:t>01  Choose AOI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42032"/>
            <a:ext cx="2221992" cy="585215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Select study area and CRS.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920240"/>
            <a:ext cx="2606040" cy="1298448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39" y="2075688"/>
            <a:ext cx="54864" cy="987551"/>
          </a:xfrm>
          <a:prstGeom prst="rect">
            <a:avLst/>
          </a:prstGeom>
          <a:solidFill>
            <a:srgbClr val="00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7" y="2084832"/>
            <a:ext cx="224028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C6B4"/>
                </a:solidFill>
                <a:latin typeface="Aptos"/>
              </a:defRPr>
            </a:pPr>
            <a:r>
              <a:t>02  Collect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7" y="2542032"/>
            <a:ext cx="2221992" cy="585215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Imagery, labels, OSM and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920240"/>
            <a:ext cx="2606040" cy="1298448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075688"/>
            <a:ext cx="54864" cy="987551"/>
          </a:xfrm>
          <a:prstGeom prst="rect">
            <a:avLst/>
          </a:prstGeom>
          <a:solidFill>
            <a:srgbClr val="00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084832"/>
            <a:ext cx="224028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C6B4"/>
                </a:solidFill>
                <a:latin typeface="Aptos"/>
              </a:defRPr>
            </a:pPr>
            <a:r>
              <a:t>03  Preprocess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542032"/>
            <a:ext cx="2221992" cy="585215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Cloud checks, tiling and alignment.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59" y="1920240"/>
            <a:ext cx="2606040" cy="1298448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81159" y="2075688"/>
            <a:ext cx="54864" cy="987551"/>
          </a:xfrm>
          <a:prstGeom prst="rect">
            <a:avLst/>
          </a:prstGeom>
          <a:solidFill>
            <a:srgbClr val="00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82328" y="2084832"/>
            <a:ext cx="224028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C6B4"/>
                </a:solidFill>
                <a:latin typeface="Aptos"/>
              </a:defRPr>
            </a:pPr>
            <a:r>
              <a:t>04  Infer roads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2542032"/>
            <a:ext cx="2221992" cy="585215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Segmentation → road-probability mask.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66160"/>
            <a:ext cx="2606040" cy="1298448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21608"/>
            <a:ext cx="54864" cy="987551"/>
          </a:xfrm>
          <a:prstGeom prst="rect">
            <a:avLst/>
          </a:prstGeom>
          <a:solidFill>
            <a:srgbClr val="C2F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730752"/>
            <a:ext cx="224028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C2F271"/>
                </a:solidFill>
                <a:latin typeface="Aptos"/>
              </a:defRPr>
            </a:pPr>
            <a:r>
              <a:t>05  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187952"/>
            <a:ext cx="2221992" cy="585215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Match AI roads with OSM; flag gaps.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39" y="3566160"/>
            <a:ext cx="2606040" cy="1298448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20439" y="3721608"/>
            <a:ext cx="54864" cy="987551"/>
          </a:xfrm>
          <a:prstGeom prst="rect">
            <a:avLst/>
          </a:prstGeom>
          <a:solidFill>
            <a:srgbClr val="C2F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21607" y="3730752"/>
            <a:ext cx="224028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C2F271"/>
                </a:solidFill>
                <a:latin typeface="Aptos"/>
              </a:defRPr>
            </a:pPr>
            <a:r>
              <a:t>06  Rank gaps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1607" y="4187952"/>
            <a:ext cx="2221992" cy="585215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Access, terrain and hazard criteria.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566160"/>
            <a:ext cx="2606040" cy="1298448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721608"/>
            <a:ext cx="54864" cy="987551"/>
          </a:xfrm>
          <a:prstGeom prst="rect">
            <a:avLst/>
          </a:prstGeom>
          <a:solidFill>
            <a:srgbClr val="C2F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3730752"/>
            <a:ext cx="224028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C2F271"/>
                </a:solidFill>
                <a:latin typeface="Aptos"/>
              </a:defRPr>
            </a:pPr>
            <a:r>
              <a:t>07  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4187952"/>
            <a:ext cx="2221992" cy="585215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Labels, local review and field checks.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486400"/>
            <a:ext cx="1051560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EBECF"/>
                </a:solidFill>
                <a:latin typeface="Aptos"/>
              </a:defRPr>
            </a:pPr>
            <a:r>
              <a:t>TinyFish: source discovery → structured metadata + URL → human check → pipeline input.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AEBECF"/>
                </a:solidFill>
                <a:latin typeface="Aptos"/>
              </a:defRPr>
            </a:pPr>
            <a:r>
              <a:t>ROADVISION  •  AI-ASSISTED ROAD ACCESS PLANNING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C6B4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6B4"/>
                </a:solidFill>
                <a:latin typeface="Aptos"/>
              </a:defRPr>
            </a:pPr>
            <a:r>
              <a:t>06 / MODEL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How will AI identify a road problem?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97280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CF"/>
                </a:solidFill>
                <a:latin typeface="Aptos"/>
              </a:defRPr>
            </a:pPr>
            <a:r>
              <a:t>Separate what the model can observe from what the project infers.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520440" cy="196596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21408"/>
            <a:ext cx="54864" cy="1655063"/>
          </a:xfrm>
          <a:prstGeom prst="rect">
            <a:avLst/>
          </a:prstGeom>
          <a:solidFill>
            <a:srgbClr val="00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130552"/>
            <a:ext cx="315468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C6B4"/>
                </a:solidFill>
                <a:latin typeface="Aptos"/>
              </a:defRPr>
            </a:pPr>
            <a:r>
              <a:t>A. ROAD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87752"/>
            <a:ext cx="3136392" cy="12527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Segmentation identifies likely road surfaces / centerlines in imagery.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65960"/>
            <a:ext cx="3520440" cy="196596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121408"/>
            <a:ext cx="54864" cy="1655063"/>
          </a:xfrm>
          <a:prstGeom prst="rect">
            <a:avLst/>
          </a:prstGeom>
          <a:solidFill>
            <a:srgbClr val="C2F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130552"/>
            <a:ext cx="315468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C2F271"/>
                </a:solidFill>
                <a:latin typeface="Aptos"/>
              </a:defRPr>
            </a:pPr>
            <a:r>
              <a:t>B. NETWORK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587752"/>
            <a:ext cx="3136392" cy="12527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Compare extracted geometry with OSM; flag missing links, broken segments and disagreement.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965960"/>
            <a:ext cx="3520440" cy="196596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2121408"/>
            <a:ext cx="54864" cy="1655063"/>
          </a:xfrm>
          <a:prstGeom prst="rect">
            <a:avLst/>
          </a:prstGeom>
          <a:solidFill>
            <a:srgbClr val="FF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2130552"/>
            <a:ext cx="315468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AA5A"/>
                </a:solidFill>
                <a:latin typeface="Aptos"/>
              </a:defRPr>
            </a:pPr>
            <a:r>
              <a:t>C. ACCESS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587752"/>
            <a:ext cx="3136392" cy="12527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Rank disconnected settlements by access to services, slope, hazards and likely benefit.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34840"/>
            <a:ext cx="10698480" cy="10058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“Improper road” means a review flag (disconnected, potentially missing, visually obstructed, or unverified)—not a confirmed condition label. Imagery alone cannot diagnose surface damage.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AEBECF"/>
                </a:solidFill>
                <a:latin typeface="Aptos"/>
              </a:defRPr>
            </a:pPr>
            <a:r>
              <a:t>ROADVISION  •  AI-ASSISTED ROAD ACCESS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C6B4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6B4"/>
                </a:solidFill>
                <a:latin typeface="Aptos"/>
              </a:defRPr>
            </a:pPr>
            <a:r>
              <a:t>07 /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How do we know it works?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97280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CF"/>
                </a:solidFill>
                <a:latin typeface="Aptos"/>
              </a:defRPr>
            </a:pPr>
            <a:r>
              <a:t>Measure detection quality and planning usefulness separately.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474720" cy="196596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67128"/>
            <a:ext cx="54864" cy="1655063"/>
          </a:xfrm>
          <a:prstGeom prst="rect">
            <a:avLst/>
          </a:prstGeom>
          <a:solidFill>
            <a:srgbClr val="00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176272"/>
            <a:ext cx="310896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C6B4"/>
                </a:solidFill>
                <a:latin typeface="Aptos"/>
              </a:defRPr>
            </a:pPr>
            <a:r>
              <a:t>VISION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33472"/>
            <a:ext cx="3090672" cy="12527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Precision / recall / F1 or IoU on held-out road masks; test rural and urban scenes.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011680"/>
            <a:ext cx="3474720" cy="196596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2167128"/>
            <a:ext cx="54864" cy="1655063"/>
          </a:xfrm>
          <a:prstGeom prst="rect">
            <a:avLst/>
          </a:prstGeom>
          <a:solidFill>
            <a:srgbClr val="C2F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76272"/>
            <a:ext cx="310896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C2F271"/>
                </a:solidFill>
                <a:latin typeface="Aptos"/>
              </a:defRPr>
            </a:pPr>
            <a:r>
              <a:t>NETWORK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33472"/>
            <a:ext cx="3090672" cy="12527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Connectivity, connected components, and APLS where suitable labels exist.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474720" cy="196596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167128"/>
            <a:ext cx="54864" cy="1655063"/>
          </a:xfrm>
          <a:prstGeom prst="rect">
            <a:avLst/>
          </a:prstGeom>
          <a:solidFill>
            <a:srgbClr val="FF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176272"/>
            <a:ext cx="310896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AA5A"/>
                </a:solidFill>
                <a:latin typeface="Aptos"/>
              </a:defRPr>
            </a:pPr>
            <a:r>
              <a:t>PLANNING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633472"/>
            <a:ext cx="3090672" cy="12527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Local reviewers assess top-ranked gaps; record false alarms and missing context.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10698480" cy="7315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Baseline: compare with OSM-only routing and a simple distance-to-service heuristic. Report uncertainty.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AEBECF"/>
                </a:solidFill>
                <a:latin typeface="Aptos"/>
              </a:defRPr>
            </a:pPr>
            <a:r>
              <a:t>ROADVISION  •  AI-ASSISTED ROAD ACCESS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C6B4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6B4"/>
                </a:solidFill>
                <a:latin typeface="Aptos"/>
              </a:defRPr>
            </a:pPr>
            <a:r>
              <a:t>08 / PROTOTYPE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A manageable first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97280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CF"/>
                </a:solidFill>
                <a:latin typeface="Aptos"/>
              </a:defRPr>
            </a:pPr>
            <a:r>
              <a:t>Keep the first milestone small enough for a student team to build and demonstrate.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474720" cy="182880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21408"/>
            <a:ext cx="54864" cy="1517904"/>
          </a:xfrm>
          <a:prstGeom prst="rect">
            <a:avLst/>
          </a:prstGeom>
          <a:solidFill>
            <a:srgbClr val="00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130552"/>
            <a:ext cx="310896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C6B4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87752"/>
            <a:ext cx="3090672" cy="11155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Choose one area; display imagery and OSM roads; prepare a small labelled sample.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965960"/>
            <a:ext cx="3474720" cy="182880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2121408"/>
            <a:ext cx="54864" cy="1517904"/>
          </a:xfrm>
          <a:prstGeom prst="rect">
            <a:avLst/>
          </a:prstGeom>
          <a:solidFill>
            <a:srgbClr val="C2F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30552"/>
            <a:ext cx="310896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C2F27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87752"/>
            <a:ext cx="3090672" cy="11155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Train / fine-tune on SpaceNet or run a baseline road extractor.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65960"/>
            <a:ext cx="3474720" cy="1828800"/>
          </a:xfrm>
          <a:prstGeom prst="roundRect">
            <a:avLst/>
          </a:prstGeom>
          <a:solidFill>
            <a:srgbClr val="14273D"/>
          </a:solidFill>
          <a:ln>
            <a:solidFill>
              <a:srgbClr val="2C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121408"/>
            <a:ext cx="54864" cy="1517904"/>
          </a:xfrm>
          <a:prstGeom prst="rect">
            <a:avLst/>
          </a:prstGeom>
          <a:solidFill>
            <a:srgbClr val="FF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130552"/>
            <a:ext cx="3108960" cy="38404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AA5A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587752"/>
            <a:ext cx="3090672" cy="11155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Build gap flags, access ranking and a Streamlit map with evidence links.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10698480" cy="9144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Deliverables: reproducible Python pipeline • evaluation • interactive map • GeoJSON / CSV • limitations report.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AEBECF"/>
                </a:solidFill>
                <a:latin typeface="Aptos"/>
              </a:defRPr>
            </a:pPr>
            <a:r>
              <a:t>ROADVISION  •  AI-ASSISTED ROAD ACCESS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C6B4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6B4"/>
                </a:solidFill>
                <a:latin typeface="Aptos"/>
              </a:defRPr>
            </a:pPr>
            <a:r>
              <a:t>09 / RISKS &amp; 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Responsible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97280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CF"/>
                </a:solidFill>
                <a:latin typeface="Aptos"/>
              </a:defRPr>
            </a:pPr>
            <a:r>
              <a:t>Help planners ask better questions—not replace engineers or communities.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424160" cy="5029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•  Resolution, shadows, vegetation and clouds can hide roads; show uncertainty.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32887"/>
            <a:ext cx="10424160" cy="5029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•  OSM may be incomplete or outdated; a missing line is not proof a road does not exist.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91256"/>
            <a:ext cx="10424160" cy="5029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•  New corridors must consider land rights, ecology, flood risk, slope, cost and community consent.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9624"/>
            <a:ext cx="10424160" cy="5029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•  Road condition needs field reports, street-level imagery, maintenance records or inspection.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07992"/>
            <a:ext cx="10424160" cy="5029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•  Human review and on-ground verification are required before engineering or funding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C6B4"/>
                </a:solidFill>
                <a:latin typeface="Aptos"/>
              </a:defRPr>
            </a:pPr>
            <a:r>
              <a:t>Principle: transparent evidence • explainable ranking • human 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AEBECF"/>
                </a:solidFill>
                <a:latin typeface="Aptos"/>
              </a:defRPr>
            </a:pPr>
            <a:r>
              <a:t>ROADVISION  •  AI-ASSISTED ROAD ACCESS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C6B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6B4"/>
                </a:solidFill>
                <a:latin typeface="Aptos"/>
              </a:defRPr>
            </a:pPr>
            <a:r>
              <a:t>10 /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Data &amp;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97280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CF"/>
                </a:solidFill>
                <a:latin typeface="Aptos"/>
              </a:defRPr>
            </a:pPr>
            <a:r>
              <a:t>Starting points — verify access, license and coverage for the chosen study area.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21208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C6B4"/>
                </a:solidFill>
                <a:latin typeface="Aptos"/>
              </a:defRPr>
            </a:pPr>
            <a:r>
              <a:t>SpaceNet 3: Road Network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521208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E0ECF5"/>
                </a:solidFill>
                <a:latin typeface="Aptos"/>
              </a:defRPr>
            </a:pPr>
            <a:r>
              <a:t>https://www.spacenet.ai/spacenet-roads-dataset/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521208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C6B4"/>
                </a:solidFill>
                <a:latin typeface="Aptos"/>
              </a:defRPr>
            </a:pPr>
            <a:r>
              <a:t>SpaceNet datasets catalogue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81527"/>
            <a:ext cx="521208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E0ECF5"/>
                </a:solidFill>
                <a:latin typeface="Aptos"/>
              </a:defRPr>
            </a:pPr>
            <a:r>
              <a:t>https://www.spacenet.ai/datasets/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49039"/>
            <a:ext cx="521208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C6B4"/>
                </a:solidFill>
                <a:latin typeface="Aptos"/>
              </a:defRPr>
            </a:pPr>
            <a:r>
              <a:t>Copernicus: access to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41648"/>
            <a:ext cx="521208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E0ECF5"/>
                </a:solidFill>
                <a:latin typeface="Aptos"/>
              </a:defRPr>
            </a:pPr>
            <a:r>
              <a:t>https://www.copernicus.eu/en/terms-use/how-access-data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521208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C6B4"/>
                </a:solidFill>
                <a:latin typeface="Aptos"/>
              </a:defRPr>
            </a:pPr>
            <a:r>
              <a:t>OpenStreetMap — copyright &amp; license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01768"/>
            <a:ext cx="521208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E0ECF5"/>
                </a:solidFill>
                <a:latin typeface="Aptos"/>
              </a:defRPr>
            </a:pPr>
            <a:r>
              <a:t>https://www.openstreetmap.org/copyright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21208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C6B4"/>
                </a:solidFill>
                <a:latin typeface="Aptos"/>
              </a:defRPr>
            </a:pPr>
            <a:r>
              <a:t>TinyFish — web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21408"/>
            <a:ext cx="521208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E0ECF5"/>
                </a:solidFill>
                <a:latin typeface="Aptos"/>
              </a:defRPr>
            </a:pPr>
            <a:r>
              <a:t>https://www.tinyfish.ai/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88920"/>
            <a:ext cx="521208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C6B4"/>
                </a:solidFill>
                <a:latin typeface="Aptos"/>
              </a:defRPr>
            </a:pPr>
            <a:r>
              <a:t>TinyFish getting started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81527"/>
            <a:ext cx="521208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E0ECF5"/>
                </a:solidFill>
                <a:latin typeface="Aptos"/>
              </a:defRPr>
            </a:pPr>
            <a:r>
              <a:t>https://www.tinyfish.ai/blog/tinyfish-web-agent-getting-started-10-minutes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49039"/>
            <a:ext cx="521208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C6B4"/>
                </a:solidFill>
                <a:latin typeface="Aptos"/>
              </a:defRPr>
            </a:pPr>
            <a:r>
              <a:t>OSMnx 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41648"/>
            <a:ext cx="521208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E0ECF5"/>
                </a:solidFill>
                <a:latin typeface="Aptos"/>
              </a:defRPr>
            </a:pPr>
            <a:r>
              <a:t>https://osmnx.readthedocs.io/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09160"/>
            <a:ext cx="5212080" cy="2560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C6B4"/>
                </a:solidFill>
                <a:latin typeface="Aptos"/>
              </a:defRPr>
            </a:pPr>
            <a:r>
              <a:t>Rasterio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001768"/>
            <a:ext cx="5212080" cy="4572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E0ECF5"/>
                </a:solidFill>
                <a:latin typeface="Aptos"/>
              </a:defRPr>
            </a:pPr>
            <a:r>
              <a:t>https://rasterio.readthedocs.io/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AA5A"/>
                </a:solidFill>
                <a:latin typeface="Aptos"/>
              </a:defRPr>
            </a:pPr>
            <a:r>
              <a:t>SpaceNet dataset licenses vary by release; cite the exact dataset and follow its terms.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AEBECF"/>
                </a:solidFill>
                <a:latin typeface="Aptos"/>
              </a:defRPr>
            </a:pPr>
            <a:r>
              <a:t>ROADVISION  •  AI-ASSISTED ROAD ACCESS 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00C6B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